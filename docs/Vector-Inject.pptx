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Bold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5.png"/><Relationship Id="rId8" Type="http://schemas.openxmlformats.org/officeDocument/2006/relationships/image" Target="../media/image-4-6.svg"/><Relationship Id="rId9" Type="http://schemas.openxmlformats.org/officeDocument/2006/relationships/image" Target="../media/image-4-5.png"/><Relationship Id="rId10" Type="http://schemas.openxmlformats.org/officeDocument/2006/relationships/image" Target="../media/image-4-6.svg"/><Relationship Id="rId11" Type="http://schemas.openxmlformats.org/officeDocument/2006/relationships/image" Target="../media/image-4-5.png"/><Relationship Id="rId12" Type="http://schemas.openxmlformats.org/officeDocument/2006/relationships/image" Target="../media/image-4-6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lwhababd447-dotcom/vectorinjec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45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67544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0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Vector</a:t>
            </a:r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F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Inject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1432322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Injection Detection &amp; Database Extraction Framework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1882973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sp>
        <p:nvSpPr>
          <p:cNvPr id="7" name="Text 4"/>
          <p:cNvSpPr/>
          <p:nvPr/>
        </p:nvSpPr>
        <p:spPr>
          <a:xfrm>
            <a:off x="826769" y="2048272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6769" y="2405955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Abdulwahab Nashwan Ajlan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3001169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sp>
        <p:nvSpPr>
          <p:cNvPr id="10" name="Text 7"/>
          <p:cNvSpPr/>
          <p:nvPr/>
        </p:nvSpPr>
        <p:spPr>
          <a:xfrm>
            <a:off x="826769" y="3166467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Course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6769" y="3524151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Cybersecurity Practical Project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4119364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826769" y="4284663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6769" y="4642346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Dr. Ahmed Al-Suraihi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1475" y="5237559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sp>
        <p:nvSpPr>
          <p:cNvPr id="16" name="Text 13"/>
          <p:cNvSpPr/>
          <p:nvPr/>
        </p:nvSpPr>
        <p:spPr>
          <a:xfrm>
            <a:off x="826769" y="5402858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Version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6769" y="5760541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1.0.0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4166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Problem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7971" y="1192113"/>
            <a:ext cx="5469098" cy="5191720"/>
          </a:xfrm>
          <a:prstGeom prst="roundRect">
            <a:avLst>
              <a:gd name="adj" fmla="val 455"/>
            </a:avLst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705527" y="1342330"/>
            <a:ext cx="5153987" cy="985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94%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705527" y="2477790"/>
            <a:ext cx="5153987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web applications have at least one vulnerability — making SQLi not a rare edge case, but the norm.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94478" y="1342330"/>
            <a:ext cx="52420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This Matters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3512" y="1762423"/>
            <a:ext cx="236432" cy="2364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06633" y="1757561"/>
            <a:ext cx="47299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OWASP Top 10 — #1 Threat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06633" y="2154039"/>
            <a:ext cx="4729937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Injection has consistently ranked as the most critical web application vulnerability for over a decade.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3512" y="2951857"/>
            <a:ext cx="236432" cy="2364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06633" y="2946995"/>
            <a:ext cx="47299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Exploitation is Slow &amp; Error-Prone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806633" y="3343473"/>
            <a:ext cx="4729937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Crafting payloads by hand is tedious, inconsistent, and difficult to reproduce across targets.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3512" y="4141291"/>
            <a:ext cx="236432" cy="2364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06633" y="4136430"/>
            <a:ext cx="47299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Existing Tools Lack Transparency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806633" y="4532908"/>
            <a:ext cx="4729937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like SQLMap are powerful but opaque — students cannot easily learn </a:t>
            </a:r>
            <a:pPr algn="l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detection logic works internally.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3512" y="5330726"/>
            <a:ext cx="236432" cy="2364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06633" y="5325864"/>
            <a:ext cx="47299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Educational Gap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806633" y="5722342"/>
            <a:ext cx="4729937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There is a clear need for a transparent, readable, and educational SQLi framework built for learning.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609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is </a:t>
            </a:r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0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VectorInject</a:t>
            </a:r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3352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VectorInject is an advanced SQL Injection detection and exploitation framework designed from the ground up for educational clarity and practical effectiveness.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248793"/>
            <a:ext cx="5351725" cy="1878905"/>
          </a:xfrm>
          <a:prstGeom prst="roundRect">
            <a:avLst>
              <a:gd name="adj" fmla="val 1320"/>
            </a:avLst>
          </a:prstGeom>
          <a:solidFill>
            <a:srgbClr val="3E3E3E"/>
          </a:solidFill>
          <a:ln/>
        </p:spPr>
      </p:sp>
      <p:sp>
        <p:nvSpPr>
          <p:cNvPr id="5" name="Shape 3"/>
          <p:cNvSpPr/>
          <p:nvPr/>
        </p:nvSpPr>
        <p:spPr>
          <a:xfrm>
            <a:off x="826769" y="2414091"/>
            <a:ext cx="496081" cy="496094"/>
          </a:xfrm>
          <a:prstGeom prst="ellipse">
            <a:avLst/>
          </a:prstGeom>
          <a:solidFill>
            <a:srgbClr val="F5F5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192" y="2550418"/>
            <a:ext cx="223237" cy="2232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6769" y="3075484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Pure Python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6769" y="3433167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 external libraries — built entirely on the Python standard library for maximum transparency and portability.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8495" y="2248793"/>
            <a:ext cx="5351725" cy="1878905"/>
          </a:xfrm>
          <a:prstGeom prst="roundRect">
            <a:avLst>
              <a:gd name="adj" fmla="val 1320"/>
            </a:avLst>
          </a:prstGeom>
          <a:solidFill>
            <a:srgbClr val="3E3E3E"/>
          </a:solidFill>
          <a:ln/>
        </p:spPr>
      </p:sp>
      <p:sp>
        <p:nvSpPr>
          <p:cNvPr id="10" name="Shape 7"/>
          <p:cNvSpPr/>
          <p:nvPr/>
        </p:nvSpPr>
        <p:spPr>
          <a:xfrm>
            <a:off x="6343789" y="2414091"/>
            <a:ext cx="496081" cy="496094"/>
          </a:xfrm>
          <a:prstGeom prst="ellipse">
            <a:avLst/>
          </a:prstGeom>
          <a:solidFill>
            <a:srgbClr val="F5F5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0211" y="2550418"/>
            <a:ext cx="223237" cy="2232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43789" y="3075484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Cross-Platform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43789" y="3433167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Runs natively on both Kali Linux and Windows with no configuration changes required.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61475" y="4292997"/>
            <a:ext cx="5351725" cy="1878905"/>
          </a:xfrm>
          <a:prstGeom prst="roundRect">
            <a:avLst>
              <a:gd name="adj" fmla="val 1320"/>
            </a:avLst>
          </a:prstGeom>
          <a:solidFill>
            <a:srgbClr val="3E3E3E"/>
          </a:solidFill>
          <a:ln/>
        </p:spPr>
      </p:sp>
      <p:sp>
        <p:nvSpPr>
          <p:cNvPr id="15" name="Shape 11"/>
          <p:cNvSpPr/>
          <p:nvPr/>
        </p:nvSpPr>
        <p:spPr>
          <a:xfrm>
            <a:off x="826769" y="4458295"/>
            <a:ext cx="496081" cy="496094"/>
          </a:xfrm>
          <a:prstGeom prst="ellipse">
            <a:avLst/>
          </a:prstGeom>
          <a:solidFill>
            <a:srgbClr val="F5F54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192" y="4594622"/>
            <a:ext cx="223237" cy="2232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6769" y="5119687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 Subcommands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6769" y="5477371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command-line interface with dedicated subcommands: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detect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fingerprint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8495" y="4292997"/>
            <a:ext cx="5351725" cy="1878905"/>
          </a:xfrm>
          <a:prstGeom prst="roundRect">
            <a:avLst>
              <a:gd name="adj" fmla="val 1320"/>
            </a:avLst>
          </a:prstGeom>
          <a:solidFill>
            <a:srgbClr val="3E3E3E"/>
          </a:solidFill>
          <a:ln/>
        </p:spPr>
      </p:sp>
      <p:sp>
        <p:nvSpPr>
          <p:cNvPr id="20" name="Shape 15"/>
          <p:cNvSpPr/>
          <p:nvPr/>
        </p:nvSpPr>
        <p:spPr>
          <a:xfrm>
            <a:off x="6343789" y="4458295"/>
            <a:ext cx="496081" cy="496094"/>
          </a:xfrm>
          <a:prstGeom prst="ellipse">
            <a:avLst/>
          </a:prstGeom>
          <a:solidFill>
            <a:srgbClr val="F5F54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0211" y="4594622"/>
            <a:ext cx="223237" cy="2232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43789" y="5119687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Educational Purpose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43789" y="5477371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so students can read, trace, and understand exactly how each SQLi technique works at the code level.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42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Features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71638"/>
            <a:ext cx="5351725" cy="1520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1855986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 Injection Detection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2213670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Supports four detection methods: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Error-based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Boolean-based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Time-based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UNION-based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covering the full spectrum of SQLi vulnerability classes.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1671638"/>
            <a:ext cx="5351725" cy="15202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9037" y="1855986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 Fingerprinting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39037" y="2213670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identifies the target DBMS: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MySQL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PostgreSQL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MSSQL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Oracle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SQLite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adapting payloads accordingly.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57166"/>
            <a:ext cx="5351725" cy="12556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2017" y="3541514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Data Extraction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22017" y="3899198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Hierarchical extraction of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Databases → Tables → Columns → Rows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enabling complete enumeration of exposed data.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495" y="3357166"/>
            <a:ext cx="5351725" cy="12556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39037" y="3541514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Session &amp; Cookie Management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439037" y="3899198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 login handling via a built-in cookie jar — supports authenticated scanning without manual session injection.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778077"/>
            <a:ext cx="5351725" cy="12556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2017" y="4962426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Multi-threaded Scanning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922017" y="5320109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Parallel vulnerability detection across parameters for significantly faster scan completion on large targets.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78495" y="4778077"/>
            <a:ext cx="5351725" cy="12556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439037" y="4962426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 Export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439037" y="5320109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all findings to structured output files for documentation, reporting, and further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067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Architecture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190625"/>
            <a:ext cx="11478330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VectorInject follows a modular architecture with clear separation of concerns across eight core files.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575395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1882180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475" y="2084685"/>
            <a:ext cx="5279893" cy="127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173387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vectorinject.py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2468066"/>
            <a:ext cx="527989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 CLI Entry Point — parses subcommands and routes execution to the appropriate module.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61475" y="3017540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1475" y="3220045"/>
            <a:ext cx="5279893" cy="127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3308747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core/scanner.py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1475" y="3603427"/>
            <a:ext cx="527989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URL &amp; Parameter Scanner — discovers injectable parameters across target endpoints.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1475" y="3974108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1475" y="4176613"/>
            <a:ext cx="5279893" cy="127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4265315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core/detector.py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1475" y="4559995"/>
            <a:ext cx="527989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SQLi Detection Engine — applies all four detection techniques against discovered parameters.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1475" y="5109468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1475" y="5311973"/>
            <a:ext cx="5279893" cy="127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5400675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core/fingerprint.py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475" y="5695355"/>
            <a:ext cx="527989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 Fingerprinting — identifies the backend DBMS using targeted probe payloads.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56677" y="1575395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Support Modules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56677" y="1882180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6677" y="2084685"/>
            <a:ext cx="5279893" cy="127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24" name="Text 22"/>
          <p:cNvSpPr/>
          <p:nvPr/>
        </p:nvSpPr>
        <p:spPr>
          <a:xfrm>
            <a:off x="6256677" y="2173387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core/extractor.py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56677" y="2468066"/>
            <a:ext cx="527989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Extraction Engine — performs hierarchical enumeration of databases, tables, columns, and rows.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56677" y="3017540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6677" y="3220045"/>
            <a:ext cx="5279893" cy="127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28" name="Text 26"/>
          <p:cNvSpPr/>
          <p:nvPr/>
        </p:nvSpPr>
        <p:spPr>
          <a:xfrm>
            <a:off x="6256677" y="3308747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utils/http_client.py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56677" y="3603427"/>
            <a:ext cx="527989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 Client with Cookie Jar — handles all network requests and session state management.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56677" y="4152900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6677" y="4355405"/>
            <a:ext cx="5279893" cy="127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32" name="Text 30"/>
          <p:cNvSpPr/>
          <p:nvPr/>
        </p:nvSpPr>
        <p:spPr>
          <a:xfrm>
            <a:off x="6256677" y="4444107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utils/payloads.py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56677" y="4738787"/>
            <a:ext cx="527989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Injection Payloads — centralized payload library organized by technique and DBMS target.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56677" y="5288260"/>
            <a:ext cx="253200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6677" y="5490766"/>
            <a:ext cx="5279893" cy="127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36" name="Text 34"/>
          <p:cNvSpPr/>
          <p:nvPr/>
        </p:nvSpPr>
        <p:spPr>
          <a:xfrm>
            <a:off x="6256677" y="5579467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config/settings.py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56677" y="5874147"/>
            <a:ext cx="527989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 Configuration — timeouts, thread counts, output paths, and detection thresholds.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4783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Detection Techniques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295797"/>
            <a:ext cx="10868745" cy="2336602"/>
          </a:xfrm>
          <a:prstGeom prst="roundRect">
            <a:avLst>
              <a:gd name="adj" fmla="val 1029"/>
            </a:avLst>
          </a:prstGeom>
          <a:solidFill>
            <a:srgbClr val="3E3E3E"/>
          </a:solidFill>
          <a:ln/>
        </p:spPr>
      </p:sp>
      <p:sp>
        <p:nvSpPr>
          <p:cNvPr id="4" name="Shape 2"/>
          <p:cNvSpPr/>
          <p:nvPr/>
        </p:nvSpPr>
        <p:spPr>
          <a:xfrm>
            <a:off x="661475" y="1295797"/>
            <a:ext cx="5434373" cy="1168301"/>
          </a:xfrm>
          <a:custGeom>
            <a:avLst/>
            <a:gdLst/>
            <a:ahLst/>
            <a:cxnLst/>
            <a:rect l="l" t="t" r="r" b="b"/>
            <a:pathLst>
              <a:path w="5434373" h="1168301">
                <a:moveTo>
                  <a:pt x="20028" y="0"/>
                </a:moveTo>
                <a:lnTo>
                  <a:pt x="5434373" y="0"/>
                </a:lnTo>
                <a:lnTo>
                  <a:pt x="5434373" y="1168301"/>
                </a:lnTo>
                <a:lnTo>
                  <a:pt x="0" y="1168301"/>
                </a:lnTo>
                <a:lnTo>
                  <a:pt x="0" y="20028"/>
                </a:lnTo>
                <a:arcTo hR="20028" wR="20028" stAng="10800000" swAng="5400000"/>
                <a:close/>
              </a:path>
            </a:pathLst>
          </a:custGeom>
          <a:solidFill>
            <a:srgbClr val="3E3E3E"/>
          </a:solidFill>
          <a:ln/>
        </p:spPr>
      </p:sp>
      <p:sp>
        <p:nvSpPr>
          <p:cNvPr id="5" name="Text 3"/>
          <p:cNvSpPr/>
          <p:nvPr/>
        </p:nvSpPr>
        <p:spPr>
          <a:xfrm>
            <a:off x="821610" y="1455936"/>
            <a:ext cx="5114103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Error-Based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1610" y="1799332"/>
            <a:ext cx="5114103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Triggers SQL syntax errors and detects them via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HTTP 500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status codes. Primary method used against DVWA.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95848" y="1295797"/>
            <a:ext cx="5434373" cy="1168301"/>
          </a:xfrm>
          <a:custGeom>
            <a:avLst/>
            <a:gdLst/>
            <a:ahLst/>
            <a:cxnLst/>
            <a:rect l="l" t="t" r="r" b="b"/>
            <a:pathLst>
              <a:path w="5434373" h="1168301">
                <a:moveTo>
                  <a:pt x="0" y="0"/>
                </a:moveTo>
                <a:lnTo>
                  <a:pt x="5414345" y="0"/>
                </a:lnTo>
                <a:arcTo hR="20028" wR="20028" stAng="16200000" swAng="5400000"/>
                <a:lnTo>
                  <a:pt x="5434373" y="1168301"/>
                </a:lnTo>
                <a:lnTo>
                  <a:pt x="0" y="1168301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1295797"/>
            <a:ext cx="19050" cy="1168301"/>
          </a:xfrm>
          <a:prstGeom prst="roundRect">
            <a:avLst>
              <a:gd name="adj" fmla="val 49999"/>
            </a:avLst>
          </a:prstGeom>
          <a:solidFill>
            <a:srgbClr val="575757"/>
          </a:solidFill>
          <a:ln/>
        </p:spPr>
      </p:sp>
      <p:sp>
        <p:nvSpPr>
          <p:cNvPr id="9" name="Text 7"/>
          <p:cNvSpPr/>
          <p:nvPr/>
        </p:nvSpPr>
        <p:spPr>
          <a:xfrm>
            <a:off x="6255983" y="1455936"/>
            <a:ext cx="5114103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Boolean-Based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55983" y="1799332"/>
            <a:ext cx="5114103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Sends true/false condition payloads and compares response content to infer data without visible errors.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1475" y="2464098"/>
            <a:ext cx="5434373" cy="1168301"/>
          </a:xfrm>
          <a:custGeom>
            <a:avLst/>
            <a:gdLst/>
            <a:ahLst/>
            <a:cxnLst/>
            <a:rect l="l" t="t" r="r" b="b"/>
            <a:pathLst>
              <a:path w="5434373" h="1168301">
                <a:moveTo>
                  <a:pt x="0" y="0"/>
                </a:moveTo>
                <a:lnTo>
                  <a:pt x="5434373" y="0"/>
                </a:lnTo>
                <a:lnTo>
                  <a:pt x="5434373" y="1168301"/>
                </a:lnTo>
                <a:lnTo>
                  <a:pt x="20028" y="1168301"/>
                </a:lnTo>
                <a:arcTo hR="20028" wR="20028" stAng="5400000" swAng="5400000"/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2464098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575757"/>
          </a:solidFill>
          <a:ln/>
        </p:spPr>
      </p:sp>
      <p:sp>
        <p:nvSpPr>
          <p:cNvPr id="13" name="Text 11"/>
          <p:cNvSpPr/>
          <p:nvPr/>
        </p:nvSpPr>
        <p:spPr>
          <a:xfrm>
            <a:off x="821610" y="2624237"/>
            <a:ext cx="5114103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Time-Based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1610" y="2967633"/>
            <a:ext cx="5114103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Injects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SLEEP()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delays and measures response time to detect blind SQLi where no output is returned.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95848" y="2464098"/>
            <a:ext cx="5434373" cy="1168301"/>
          </a:xfrm>
          <a:custGeom>
            <a:avLst/>
            <a:gdLst/>
            <a:ahLst/>
            <a:cxnLst/>
            <a:rect l="l" t="t" r="r" b="b"/>
            <a:pathLst>
              <a:path w="5434373" h="1168301">
                <a:moveTo>
                  <a:pt x="0" y="0"/>
                </a:moveTo>
                <a:lnTo>
                  <a:pt x="5434373" y="0"/>
                </a:lnTo>
                <a:lnTo>
                  <a:pt x="5434373" y="1148272"/>
                </a:lnTo>
                <a:arcTo hR="20028" wR="20028" stAng="0" swAng="5400000"/>
                <a:lnTo>
                  <a:pt x="0" y="1168301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2464098"/>
            <a:ext cx="19050" cy="1168301"/>
          </a:xfrm>
          <a:prstGeom prst="roundRect">
            <a:avLst>
              <a:gd name="adj" fmla="val 49999"/>
            </a:avLst>
          </a:prstGeom>
          <a:solidFill>
            <a:srgbClr val="5757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2464098"/>
            <a:ext cx="5434373" cy="19050"/>
          </a:xfrm>
          <a:prstGeom prst="roundRect">
            <a:avLst>
              <a:gd name="adj" fmla="val 49999"/>
            </a:avLst>
          </a:prstGeom>
          <a:solidFill>
            <a:srgbClr val="575757"/>
          </a:solidFill>
          <a:ln/>
        </p:spPr>
      </p:sp>
      <p:sp>
        <p:nvSpPr>
          <p:cNvPr id="18" name="Text 16"/>
          <p:cNvSpPr/>
          <p:nvPr/>
        </p:nvSpPr>
        <p:spPr>
          <a:xfrm>
            <a:off x="6255983" y="2624237"/>
            <a:ext cx="5114103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UNION-Based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255983" y="2967633"/>
            <a:ext cx="5114103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Appends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UNION SELECT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statements to extract data directly into the application's response output.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1475" y="3865166"/>
            <a:ext cx="10868745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Example: Error-Based Detection Logic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61475" y="4348262"/>
            <a:ext cx="10868745" cy="1345803"/>
          </a:xfrm>
          <a:prstGeom prst="roundRect">
            <a:avLst>
              <a:gd name="adj" fmla="val 1786"/>
            </a:avLst>
          </a:prstGeom>
          <a:solidFill>
            <a:srgbClr val="2C2C2C"/>
          </a:solidFill>
          <a:ln/>
        </p:spPr>
      </p:sp>
      <p:sp>
        <p:nvSpPr>
          <p:cNvPr id="22" name="Text 20"/>
          <p:cNvSpPr/>
          <p:nvPr/>
        </p:nvSpPr>
        <p:spPr>
          <a:xfrm>
            <a:off x="853657" y="4508401"/>
            <a:ext cx="10484381" cy="1025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= "1' OR '1'='1"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http_client.get(url, params={param: payload})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response.status_code == 500: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print("SQL Injection Detected!")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1475" y="5868591"/>
            <a:ext cx="10868745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detector sends a malformed payload that breaks SQL syntax. If the server returns HTTP 500, the parameter is flagged as injectable — a reliable signal when the application does not suppress error output.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3096"/>
            <a:ext cx="10868745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Demo — </a:t>
            </a:r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DVWA Target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90734" y="877292"/>
            <a:ext cx="5456101" cy="1643261"/>
          </a:xfrm>
          <a:prstGeom prst="roundRect">
            <a:avLst>
              <a:gd name="adj" fmla="val 896"/>
            </a:avLst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688859" y="935534"/>
            <a:ext cx="5259851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 Configuration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8859" y="1147167"/>
            <a:ext cx="5259851" cy="480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URL: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000000"/>
                </a:solidFill>
                <a:highlight>
                  <a:srgbClr val="FF0D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http://localhost/dvwa/vulnerabilities/sqli/</a:t>
            </a:r>
            <a:endParaRPr lang="en-US" sz="750" dirty="0"/>
          </a:p>
          <a:p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Parameter: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pPr algn="l"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750" dirty="0">
                <a:solidFill>
                  <a:srgbClr val="000000"/>
                </a:solidFill>
                <a:highlight>
                  <a:srgbClr val="FF0D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7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Status: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VULNERABLE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Error-based HTTP 500 confirmed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221951" y="935534"/>
            <a:ext cx="5314619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Extraction Results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21951" y="1154509"/>
            <a:ext cx="2628140" cy="558502"/>
          </a:xfrm>
          <a:prstGeom prst="roundRect">
            <a:avLst>
              <a:gd name="adj" fmla="val 2637"/>
            </a:avLst>
          </a:prstGeom>
          <a:solidFill>
            <a:srgbClr val="1F1F1F"/>
          </a:solidFill>
          <a:ln w="12700">
            <a:solidFill>
              <a:srgbClr val="575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2776" y="1265337"/>
            <a:ext cx="2406491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Databases Extracted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32776" y="1476970"/>
            <a:ext cx="2406491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information_schema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dvwa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908331" y="1154509"/>
            <a:ext cx="2628239" cy="558502"/>
          </a:xfrm>
          <a:prstGeom prst="roundRect">
            <a:avLst>
              <a:gd name="adj" fmla="val 2637"/>
            </a:avLst>
          </a:prstGeom>
          <a:solidFill>
            <a:srgbClr val="1F1F1F"/>
          </a:solidFill>
          <a:ln w="12700">
            <a:solidFill>
              <a:srgbClr val="575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19156" y="1265337"/>
            <a:ext cx="2406590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Tables Extracted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019156" y="1476970"/>
            <a:ext cx="2406590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guestbook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security_log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access_log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221951" y="1771253"/>
            <a:ext cx="2628140" cy="683716"/>
          </a:xfrm>
          <a:prstGeom prst="roundRect">
            <a:avLst>
              <a:gd name="adj" fmla="val 2154"/>
            </a:avLst>
          </a:prstGeom>
          <a:solidFill>
            <a:srgbClr val="1F1F1F"/>
          </a:solidFill>
          <a:ln w="12700">
            <a:solidFill>
              <a:srgbClr val="575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776" y="1882080"/>
            <a:ext cx="2406491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 Extracted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32776" y="2093714"/>
            <a:ext cx="2406491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gordonb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1337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pablo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smithy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908331" y="1771253"/>
            <a:ext cx="2628239" cy="683716"/>
          </a:xfrm>
          <a:prstGeom prst="roundRect">
            <a:avLst>
              <a:gd name="adj" fmla="val 2154"/>
            </a:avLst>
          </a:prstGeom>
          <a:solidFill>
            <a:srgbClr val="1F1F1F"/>
          </a:solidFill>
          <a:ln w="12700">
            <a:solidFill>
              <a:srgbClr val="57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19156" y="1882080"/>
            <a:ext cx="2406590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Credentials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019156" y="2093714"/>
            <a:ext cx="2406590" cy="25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MD5 password hashes successfully recovered for all user accounts.</a:t>
            </a:r>
            <a:endParaRPr lang="en-US" sz="7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060" y="2586137"/>
            <a:ext cx="6383575" cy="378876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47124" y="5496078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Extract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5347307" y="5496078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Fingerprint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3314884" y="5496078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2720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Challenges Solved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32793"/>
            <a:ext cx="114783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VectorInject from scratch in pure Python required solving several non-trivial engineering problems.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614190"/>
            <a:ext cx="337236" cy="337245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5" name="Text 3"/>
          <p:cNvSpPr/>
          <p:nvPr/>
        </p:nvSpPr>
        <p:spPr>
          <a:xfrm>
            <a:off x="1134538" y="1665684"/>
            <a:ext cx="10395682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Session Management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34538" y="1981299"/>
            <a:ext cx="10395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Implemented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http.cookiejar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automatically handle login cookies — enabling authenticated scans against protected pages without manual session injection.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1475" y="2710160"/>
            <a:ext cx="337236" cy="337245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8" name="Text 6"/>
          <p:cNvSpPr/>
          <p:nvPr/>
        </p:nvSpPr>
        <p:spPr>
          <a:xfrm>
            <a:off x="1134538" y="2761655"/>
            <a:ext cx="10395682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HTTP 500 Detection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34538" y="3077270"/>
            <a:ext cx="10395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DVWA suppresses visible SQL error messages, so the detector was adapted to identify injection by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HTTP status code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rather than response body content.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1475" y="3806130"/>
            <a:ext cx="337236" cy="337245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1" name="Text 9"/>
          <p:cNvSpPr/>
          <p:nvPr/>
        </p:nvSpPr>
        <p:spPr>
          <a:xfrm>
            <a:off x="1134538" y="3857625"/>
            <a:ext cx="10395682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UNION-Based Row Extraction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34538" y="4173240"/>
            <a:ext cx="10395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Implemented row-by-row data retrieval using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OFFSET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clauses to paginate through result sets without knowing the total row count in advance.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4902101"/>
            <a:ext cx="337236" cy="337245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1134538" y="4953595"/>
            <a:ext cx="10395682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Blank Page Detection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34538" y="5269210"/>
            <a:ext cx="103956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injection points by measuring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response size changes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 blank or truncated response signals that the payload altered query execution.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1475" y="5769471"/>
            <a:ext cx="337236" cy="337245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1134538" y="5820966"/>
            <a:ext cx="10395682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Cross-Platform Compatibility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34538" y="6136580"/>
            <a:ext cx="103956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Handles Windows vs. Linux file path differences and line-ending conventions to ensure consistent behavior across both operating systems.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303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 &amp; Future Work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59183" y="1147564"/>
            <a:ext cx="5465626" cy="5190133"/>
          </a:xfrm>
          <a:prstGeom prst="roundRect">
            <a:avLst>
              <a:gd name="adj" fmla="val 411"/>
            </a:avLst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701261" y="1269702"/>
            <a:ext cx="518147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540" y="1633488"/>
            <a:ext cx="213117" cy="2131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3112" y="1629073"/>
            <a:ext cx="471961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Working SQLi Tool in Pure Python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63112" y="1973263"/>
            <a:ext cx="471961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Successfully built a fully functional detection and exploitation framework using only the Python standard library.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540" y="2644825"/>
            <a:ext cx="213117" cy="2131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63112" y="2640409"/>
            <a:ext cx="471961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 Vulnerability Detection &amp; Exploitation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63112" y="2984599"/>
            <a:ext cx="471961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and exploits live SQLi vulnerabilities across all four major technique classes.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540" y="3656161"/>
            <a:ext cx="213117" cy="2131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63112" y="3651746"/>
            <a:ext cx="471961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Validated Against DVWA Lab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163112" y="3995936"/>
            <a:ext cx="471961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Extracted databases, tables, user accounts, and MD5 password hashes from a real DVWA instance.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275528" y="1269702"/>
            <a:ext cx="526104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Future Work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17606" y="1842195"/>
            <a:ext cx="142078" cy="838002"/>
          </a:xfrm>
          <a:prstGeom prst="roundRect">
            <a:avLst>
              <a:gd name="adj" fmla="val 15006"/>
            </a:avLst>
          </a:prstGeom>
          <a:solidFill>
            <a:srgbClr val="3E3E3E"/>
          </a:solidFill>
          <a:ln/>
        </p:spPr>
      </p:sp>
      <p:sp>
        <p:nvSpPr>
          <p:cNvPr id="16" name="Text 11"/>
          <p:cNvSpPr/>
          <p:nvPr/>
        </p:nvSpPr>
        <p:spPr>
          <a:xfrm>
            <a:off x="6823996" y="1771154"/>
            <a:ext cx="4712574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Blind SQLi Extraction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823996" y="2115344"/>
            <a:ext cx="4712574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full data extraction support for time-based and boolean-based blind injection scenarios.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630722" y="3015555"/>
            <a:ext cx="142078" cy="838002"/>
          </a:xfrm>
          <a:prstGeom prst="roundRect">
            <a:avLst>
              <a:gd name="adj" fmla="val 15006"/>
            </a:avLst>
          </a:prstGeom>
          <a:solidFill>
            <a:srgbClr val="3E3E3E"/>
          </a:solidFill>
          <a:ln/>
        </p:spPr>
      </p:sp>
      <p:sp>
        <p:nvSpPr>
          <p:cNvPr id="19" name="Text 14"/>
          <p:cNvSpPr/>
          <p:nvPr/>
        </p:nvSpPr>
        <p:spPr>
          <a:xfrm>
            <a:off x="7037112" y="2944515"/>
            <a:ext cx="449945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POST-Form Injection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037112" y="3288705"/>
            <a:ext cx="4499458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 scanning to automatically discover and test HTML form parameters via POST requests.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843938" y="4188916"/>
            <a:ext cx="142078" cy="838002"/>
          </a:xfrm>
          <a:prstGeom prst="roundRect">
            <a:avLst>
              <a:gd name="adj" fmla="val 15006"/>
            </a:avLst>
          </a:prstGeom>
          <a:solidFill>
            <a:srgbClr val="3E3E3E"/>
          </a:solidFill>
          <a:ln/>
        </p:spPr>
      </p:sp>
      <p:sp>
        <p:nvSpPr>
          <p:cNvPr id="22" name="Text 17"/>
          <p:cNvSpPr/>
          <p:nvPr/>
        </p:nvSpPr>
        <p:spPr>
          <a:xfrm>
            <a:off x="7250328" y="4117876"/>
            <a:ext cx="428624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PDF Report Generation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250328" y="4462066"/>
            <a:ext cx="4286242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professional penetration testing reports automatically from scan results.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057154" y="5362277"/>
            <a:ext cx="142078" cy="838002"/>
          </a:xfrm>
          <a:prstGeom prst="roundRect">
            <a:avLst>
              <a:gd name="adj" fmla="val 15006"/>
            </a:avLst>
          </a:prstGeom>
          <a:solidFill>
            <a:srgbClr val="3E3E3E"/>
          </a:solidFill>
          <a:ln/>
        </p:spPr>
      </p:sp>
      <p:sp>
        <p:nvSpPr>
          <p:cNvPr id="25" name="Text 20"/>
          <p:cNvSpPr/>
          <p:nvPr/>
        </p:nvSpPr>
        <p:spPr>
          <a:xfrm>
            <a:off x="7463544" y="5291237"/>
            <a:ext cx="4073026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GUI Version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463544" y="5635427"/>
            <a:ext cx="4073026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graphical interface to make VectorInject accessible to beginners without CLI experience.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275528" y="1748929"/>
            <a:ext cx="426332" cy="426343"/>
          </a:xfrm>
          <a:prstGeom prst="ellipse">
            <a:avLst/>
          </a:prstGeom>
          <a:solidFill>
            <a:srgbClr val="3E3E3E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82086" y="1855589"/>
            <a:ext cx="213117" cy="21312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488645" y="2922290"/>
            <a:ext cx="426332" cy="426343"/>
          </a:xfrm>
          <a:prstGeom prst="ellipse">
            <a:avLst/>
          </a:prstGeom>
          <a:solidFill>
            <a:srgbClr val="3E3E3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95203" y="3028950"/>
            <a:ext cx="213117" cy="21312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701860" y="4095651"/>
            <a:ext cx="426332" cy="426343"/>
          </a:xfrm>
          <a:prstGeom prst="ellipse">
            <a:avLst/>
          </a:prstGeom>
          <a:solidFill>
            <a:srgbClr val="3E3E3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08419" y="4202311"/>
            <a:ext cx="213117" cy="213122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6915076" y="5269012"/>
            <a:ext cx="426332" cy="426343"/>
          </a:xfrm>
          <a:prstGeom prst="ellipse">
            <a:avLst/>
          </a:prstGeom>
          <a:solidFill>
            <a:srgbClr val="3E3E3E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21634" y="5375672"/>
            <a:ext cx="213117" cy="2131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300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0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218043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Questions? I'm happy to walk through any part of the implementation, detection logic, or demo results.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631083"/>
            <a:ext cx="5351725" cy="952897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sp>
        <p:nvSpPr>
          <p:cNvPr id="5" name="Text 3"/>
          <p:cNvSpPr/>
          <p:nvPr/>
        </p:nvSpPr>
        <p:spPr>
          <a:xfrm>
            <a:off x="826769" y="2796381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769" y="3154065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Abdulwahab Nashwan Ajlan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2631083"/>
            <a:ext cx="5351725" cy="952897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sp>
        <p:nvSpPr>
          <p:cNvPr id="8" name="Text 6"/>
          <p:cNvSpPr/>
          <p:nvPr/>
        </p:nvSpPr>
        <p:spPr>
          <a:xfrm>
            <a:off x="6343789" y="2796381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3789" y="3154065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VectorInject v1.0.0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749278"/>
            <a:ext cx="5351725" cy="952897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sp>
        <p:nvSpPr>
          <p:cNvPr id="11" name="Text 9"/>
          <p:cNvSpPr/>
          <p:nvPr/>
        </p:nvSpPr>
        <p:spPr>
          <a:xfrm>
            <a:off x="826769" y="3914577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6769" y="4272260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Dr. Ahmed Al-Suraihi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749278"/>
            <a:ext cx="5351725" cy="952897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6343789" y="3914577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43789" y="4272260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u="sng" dirty="0">
                <a:solidFill>
                  <a:srgbClr val="F5F547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github.com/alwhababd447-dotcom/vectorinject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9516" y="5074245"/>
            <a:ext cx="112302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"Security through obscurity is not security. Understanding the attack is the first step to building the defense."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888210"/>
            <a:ext cx="19050" cy="636687"/>
          </a:xfrm>
          <a:prstGeom prst="roundRect">
            <a:avLst>
              <a:gd name="adj" fmla="val 49999"/>
            </a:avLst>
          </a:prstGeom>
          <a:solidFill>
            <a:srgbClr val="F5F54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5F54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2026-09-18T19:07:13Z</dcterms:created>
  <dcterms:modified xsi:type="dcterms:W3CDTF">2026-09-18T19:07:13Z</dcterms:modified>
</cp:coreProperties>
</file>